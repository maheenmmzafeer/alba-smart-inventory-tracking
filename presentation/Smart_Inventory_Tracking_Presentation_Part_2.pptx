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2" r:id="rId4"/>
  </p:sldMasterIdLst>
  <p:notesMasterIdLst>
    <p:notesMasterId r:id="rId16"/>
  </p:notesMasterIdLst>
  <p:sldIdLst>
    <p:sldId id="320" r:id="rId5"/>
    <p:sldId id="378" r:id="rId6"/>
    <p:sldId id="379" r:id="rId7"/>
    <p:sldId id="387" r:id="rId8"/>
    <p:sldId id="380" r:id="rId9"/>
    <p:sldId id="371" r:id="rId10"/>
    <p:sldId id="381" r:id="rId11"/>
    <p:sldId id="382" r:id="rId12"/>
    <p:sldId id="385" r:id="rId13"/>
    <p:sldId id="386" r:id="rId14"/>
    <p:sldId id="33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858"/>
    <a:srgbClr val="D5B8A7"/>
    <a:srgbClr val="FFE6DD"/>
    <a:srgbClr val="FBDDD1"/>
    <a:srgbClr val="FBE0D1"/>
    <a:srgbClr val="FEE8F3"/>
    <a:srgbClr val="F8DAD4"/>
    <a:srgbClr val="FEECE8"/>
    <a:srgbClr val="F7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953"/>
  </p:normalViewPr>
  <p:slideViewPr>
    <p:cSldViewPr snapToGrid="0">
      <p:cViewPr varScale="1">
        <p:scale>
          <a:sx n="78" d="100"/>
          <a:sy n="78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08-May-26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53399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05BFA754-D5C3-4E66-96A6-867B257F58DC}" type="datetimeFigureOut">
              <a:rPr lang="en-US" smtClean="0"/>
              <a:t>08-May-26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6549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2810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83834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2518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02990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6291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5663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56423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3441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1624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37808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2" y="804427"/>
            <a:ext cx="9609666" cy="1405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5400" b="1" dirty="0"/>
            </a:lvl1pPr>
          </a:lstStyle>
          <a:p>
            <a:pPr marL="0"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399" y="2209894"/>
            <a:ext cx="9609668" cy="406159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020503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48216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08-May-26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63427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rgbClr val="FBD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52C97A-9A25-A6AD-CD4D-AB8C51D5BE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77236" y="6008721"/>
            <a:ext cx="639618" cy="365125"/>
          </a:xfrm>
          <a:prstGeom prst="rect">
            <a:avLst/>
          </a:prstGeom>
        </p:spPr>
        <p:txBody>
          <a:bodyPr/>
          <a:lstStyle/>
          <a:p>
            <a:fld id="{0CCB310F-4D57-4241-8BA1-714484B844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75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052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302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sv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 userDrawn="1"/>
        </p:nvPicPr>
        <p:blipFill>
          <a:blip r:embed="rId20">
            <a:alphaModFix amt="96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65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90" t="4446" r="3659" b="5941"/>
          <a:stretch>
            <a:fillRect/>
          </a:stretch>
        </p:blipFill>
        <p:spPr>
          <a:xfrm>
            <a:off x="158604" y="212560"/>
            <a:ext cx="11874792" cy="64328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1" y="2724929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1056828"/>
            <a:ext cx="9601196" cy="1444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A2220F3-1A7E-4CE6-6545-D44AA0086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32D01A6-5B32-8CB9-B420-60CB1F73B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B36014-FACD-9E19-4A9C-56048118F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9EEEC00-4FD5-B6DE-526A-473EBED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6FECCAE-7F63-570C-F2D0-79A94067F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312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52" r:id="rId18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8" y="2984934"/>
            <a:ext cx="10943302" cy="888133"/>
          </a:xfrm>
        </p:spPr>
        <p:txBody>
          <a:bodyPr>
            <a:normAutofit/>
          </a:bodyPr>
          <a:lstStyle/>
          <a:p>
            <a:r>
              <a:rPr lang="en-US" sz="6500" dirty="0">
                <a:solidFill>
                  <a:schemeClr val="tx1">
                    <a:lumMod val="50000"/>
                  </a:schemeClr>
                </a:solidFill>
              </a:rPr>
              <a:t>Smart Inventory Tracking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C212EC8-D229-81E0-8A8C-3E1DB9F5FADF}"/>
              </a:ext>
            </a:extLst>
          </p:cNvPr>
          <p:cNvSpPr txBox="1">
            <a:spLocks/>
          </p:cNvSpPr>
          <p:nvPr/>
        </p:nvSpPr>
        <p:spPr>
          <a:xfrm>
            <a:off x="844459" y="5345593"/>
            <a:ext cx="4013789" cy="1129452"/>
          </a:xfrm>
          <a:prstGeom prst="rect">
            <a:avLst/>
          </a:prstGeom>
        </p:spPr>
        <p:txBody>
          <a:bodyPr anchor="b" anchorCtr="0"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Student ID: 6220354</a:t>
            </a:r>
          </a:p>
          <a:p>
            <a:pPr marL="0" indent="0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Name: Maheen Muhammad Zafeer</a:t>
            </a:r>
          </a:p>
          <a:p>
            <a:pPr marL="0" indent="0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Supervisor: Dr. Mohammad Riyaz Belgaum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DBCC32F-2112-5D64-5CB6-3E50B64A346B}"/>
              </a:ext>
            </a:extLst>
          </p:cNvPr>
          <p:cNvSpPr txBox="1">
            <a:spLocks/>
          </p:cNvSpPr>
          <p:nvPr/>
        </p:nvSpPr>
        <p:spPr>
          <a:xfrm>
            <a:off x="3114826" y="790765"/>
            <a:ext cx="5755867" cy="1113520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Arab Open University – Bahrain</a:t>
            </a:r>
          </a:p>
          <a:p>
            <a:pPr marL="0" indent="0" algn="ctr">
              <a:buNone/>
            </a:pPr>
            <a:r>
              <a:rPr lang="en-US" sz="2800" dirty="0"/>
              <a:t>Faculty of </a:t>
            </a:r>
            <a:r>
              <a:rPr lang="en-US" sz="2800" dirty="0">
                <a:solidFill>
                  <a:schemeClr val="tx1"/>
                </a:solidFill>
              </a:rPr>
              <a:t>Computer</a:t>
            </a:r>
            <a:r>
              <a:rPr lang="en-US" sz="2800" dirty="0"/>
              <a:t> Studies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8D1CB23-43BF-3EFE-3136-7C07B22C73D1}"/>
              </a:ext>
            </a:extLst>
          </p:cNvPr>
          <p:cNvSpPr txBox="1">
            <a:spLocks/>
          </p:cNvSpPr>
          <p:nvPr/>
        </p:nvSpPr>
        <p:spPr>
          <a:xfrm>
            <a:off x="1997406" y="3794411"/>
            <a:ext cx="7990708" cy="503404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/>
              <a:t>Inventory Management for Satellite Store at </a:t>
            </a:r>
            <a:r>
              <a:rPr lang="en-US" sz="2100" dirty="0" err="1"/>
              <a:t>AlBa</a:t>
            </a:r>
            <a:endParaRPr lang="en-US" sz="21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9FC4CEA-C7D1-61C8-6D2E-270126279455}"/>
              </a:ext>
            </a:extLst>
          </p:cNvPr>
          <p:cNvSpPr txBox="1">
            <a:spLocks/>
          </p:cNvSpPr>
          <p:nvPr/>
        </p:nvSpPr>
        <p:spPr>
          <a:xfrm>
            <a:off x="7333754" y="5345593"/>
            <a:ext cx="4013789" cy="1129452"/>
          </a:xfrm>
          <a:prstGeom prst="rect">
            <a:avLst/>
          </a:prstGeom>
        </p:spPr>
        <p:txBody>
          <a:bodyPr anchor="b" anchorCtr="0"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Smart Inventory Tracking</a:t>
            </a:r>
          </a:p>
          <a:p>
            <a:pPr marL="0" indent="0" algn="r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Satellite Store</a:t>
            </a:r>
          </a:p>
          <a:p>
            <a:pPr marL="0" indent="0" algn="r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AlBa</a:t>
            </a:r>
          </a:p>
        </p:txBody>
      </p: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D168-DB17-8C62-5435-1702CD6FE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2314F30C-03D5-D05D-C845-10242657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 dirty="0"/>
              <a:t>~ Introduction ~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8BF300-8658-D488-8241-D0FA85BED75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1166" y="1659287"/>
            <a:ext cx="9609668" cy="469235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en-US" dirty="0"/>
              <a:t>Industrial maintenance stores manage thousands of inventory items daily </a:t>
            </a:r>
          </a:p>
          <a:p>
            <a:pPr marL="457200" lvl="0" indent="-457200" fontAlgn="base">
              <a:buFont typeface="Wingdings" panose="05000000000000000000" pitchFamily="2" charset="2"/>
              <a:buChar char="v"/>
            </a:pPr>
            <a:r>
              <a:rPr lang="en-US" altLang="en-US" dirty="0"/>
              <a:t>Many still rely on spreadsheets or handwritten logs </a:t>
            </a:r>
          </a:p>
          <a:p>
            <a:pPr marL="914400" lvl="1" indent="-457200" fontAlgn="base"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Manual methods are slow and error-prone </a:t>
            </a:r>
          </a:p>
          <a:p>
            <a:pPr marL="914400" lvl="1" indent="-457200" fontAlgn="base"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Lack of real-time visibility causes shortages and overstocking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u="sng" dirty="0"/>
              <a:t>Aim:</a:t>
            </a:r>
          </a:p>
          <a:p>
            <a:pPr marL="914400" lvl="1" indent="-457200" fontAlgn="base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a Smart Inventory Tracking System to automate inventory tracking and improve stock visibility in real time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Monitor material movement and stock levels 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 accuracy, efficiency and visibility of store inventory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 better planning and cost reduction</a:t>
            </a:r>
          </a:p>
          <a:p>
            <a:pPr marL="914400" lvl="1" indent="-457200" fontAlgn="base">
              <a:buFont typeface="Wingdings" panose="05000000000000000000" pitchFamily="2" charset="2"/>
              <a:buChar char="v"/>
            </a:pPr>
            <a:endParaRPr lang="en-GB" dirty="0"/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24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1235-7B84-072E-2214-02A415A7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B09B28BC-F92B-A48D-B41F-1ACF2357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 dirty="0"/>
              <a:t>~ Suggested Solution ~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8E0AA5-04A3-F93D-6DAD-59CD97CE0F8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1166" y="1659287"/>
            <a:ext cx="9609668" cy="478084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Smart Inventory Tracking System Mobile Application with barcode scanning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Central SQL database for accurate transaction logging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Real-time stock updates for withdrawals and restocking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Automated alerts for low or overstock situations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 with usage trends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Simple, user-friendly interface with minimal IT dependency</a:t>
            </a:r>
          </a:p>
          <a:p>
            <a:pPr lvl="1" indent="-457200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sz="2800" dirty="0">
                <a:solidFill>
                  <a:schemeClr val="tx1"/>
                </a:solidFill>
              </a:rPr>
              <a:t>Requirements Gathering: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Meeting &amp; emails with AlBa Supervisor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Observation of current Excel-based System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 of similar inventory systems</a:t>
            </a:r>
          </a:p>
        </p:txBody>
      </p:sp>
    </p:spTree>
    <p:extLst>
      <p:ext uri="{BB962C8B-B14F-4D97-AF65-F5344CB8AC3E}">
        <p14:creationId xmlns:p14="http://schemas.microsoft.com/office/powerpoint/2010/main" val="180604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AEC4A-942A-7474-8ED2-1BCDC7A3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BFC80B23-ED22-1377-519D-A1441F2E4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 dirty="0"/>
              <a:t>~ Aims ~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300A92-486B-1CB3-64D4-6B21682B64B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1166" y="1858297"/>
            <a:ext cx="9609668" cy="458183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/>
              <a:t>The main aim of this project is to develop a Smart Inventory Tracking System that automates tracking, provides real-time stock visibility and improves planning and availability of essential materials.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100" dirty="0"/>
              <a:t>Specific Objectives:</a:t>
            </a:r>
            <a:endParaRPr lang="en-US" sz="2100" dirty="0"/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Maintain accurate inventory levels through real-time stock withdrawal and restocking updates.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Generate low-stock alerts for items below low-threshold and overstock alerts for items being restocked over the high threshold, preventing shortages or overstocking.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 an analytical dashboard that displays key performance indicators and usage trends for better planning.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Maintain an auditable history of inventory transactions for accountability and reporting.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66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B452-7103-BEEA-A66C-E94507F0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EC532A68-8CFB-4E6A-7E3D-BB65C6CE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 dirty="0"/>
              <a:t>~ Requirements ~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E2506DE-A7B6-C8FC-4DC9-518236F7A303}"/>
              </a:ext>
            </a:extLst>
          </p:cNvPr>
          <p:cNvSpPr txBox="1">
            <a:spLocks/>
          </p:cNvSpPr>
          <p:nvPr/>
        </p:nvSpPr>
        <p:spPr>
          <a:xfrm>
            <a:off x="6096000" y="1622322"/>
            <a:ext cx="4955458" cy="478084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ts val="1200"/>
              </a:spcAft>
              <a:buClrTx/>
              <a:buSzTx/>
            </a:pPr>
            <a:r>
              <a:rPr lang="en-US" sz="2400" u="sng" dirty="0">
                <a:latin typeface="+mj-lt"/>
              </a:rPr>
              <a:t>Non-Functional Requirements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Usability: Simple interface for non-technical staff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Performance: Real-time updates and fast processing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Reliability: Accurate stock </a:t>
            </a:r>
            <a:r>
              <a:rPr lang="en-US" sz="2000" dirty="0" err="1"/>
              <a:t>synchronisation</a:t>
            </a:r>
            <a:r>
              <a:rPr lang="en-US" sz="2000" dirty="0"/>
              <a:t>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Auditability: All actions fully traceable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Security: Protected role-based access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Scalability: Future multi-store expansion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000" dirty="0"/>
              <a:t>Maintainability: Easy to update and extend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endParaRPr lang="en-US" sz="2000" dirty="0"/>
          </a:p>
          <a:p>
            <a:endParaRPr lang="en-GB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F14D475-8396-94E4-ACC9-D87593A9575D}"/>
              </a:ext>
            </a:extLst>
          </p:cNvPr>
          <p:cNvSpPr>
            <a:spLocks noGrp="1" noChangeArrowheads="1"/>
          </p:cNvSpPr>
          <p:nvPr>
            <p:ph type="body" idx="13"/>
          </p:nvPr>
        </p:nvSpPr>
        <p:spPr bwMode="auto">
          <a:xfrm>
            <a:off x="1061884" y="1684754"/>
            <a:ext cx="5034116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Functional Requirements</a:t>
            </a:r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000" dirty="0"/>
              <a:t>Barcode-based stock withdrawal and restocking </a:t>
            </a:r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GB" sz="2000" dirty="0"/>
              <a:t>Central SQL database for all records</a:t>
            </a:r>
            <a:endParaRPr lang="en-US" sz="2000" dirty="0"/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000" dirty="0"/>
              <a:t>Transaction logging 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000" dirty="0"/>
              <a:t>Real-time update of inventory levels</a:t>
            </a:r>
            <a:endParaRPr lang="en-US" altLang="en-US" sz="2000" dirty="0"/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000" dirty="0"/>
              <a:t>Dashboard and reports for usage trends</a:t>
            </a:r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000" dirty="0"/>
              <a:t>Low &amp; high stock alerts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000" dirty="0"/>
              <a:t>Add, edit and manage item categories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000" dirty="0"/>
              <a:t>Search by item name or category</a:t>
            </a:r>
            <a:endParaRPr lang="en-US" altLang="en-US" sz="2000" dirty="0"/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000" dirty="0"/>
              <a:t>Order management, scheduled maintenance reservations and repair tracking </a:t>
            </a:r>
          </a:p>
        </p:txBody>
      </p:sp>
    </p:spTree>
    <p:extLst>
      <p:ext uri="{BB962C8B-B14F-4D97-AF65-F5344CB8AC3E}">
        <p14:creationId xmlns:p14="http://schemas.microsoft.com/office/powerpoint/2010/main" val="60814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8177-6E88-1BBE-7662-F0A841E7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8681BA-2CDA-9443-22F6-9C516D4F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Database Design~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20FDD-FF1A-AFD2-F25A-644FBD74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6774" y="573433"/>
            <a:ext cx="7518452" cy="584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9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42F37-7714-8671-F046-EC74A7B2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EB5BD4F9-CBC5-41D5-E972-A53EB153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 dirty="0"/>
              <a:t>~ Implementation &amp; Testing ~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E934BF-1463-3CA7-2931-AE616D9D211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1166" y="1788160"/>
            <a:ext cx="9609668" cy="4651968"/>
          </a:xfrm>
        </p:spPr>
        <p:txBody>
          <a:bodyPr/>
          <a:lstStyle/>
          <a:p>
            <a:pPr marL="457200" indent="-45720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sz="2400" b="1" dirty="0"/>
              <a:t>Tools</a:t>
            </a: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Framework: Flutter / Dart</a:t>
            </a: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Database: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Supabase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PostgreSQL</a:t>
            </a: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Barcode Scanner: Mobile Scanner Library</a:t>
            </a: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Analytics: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fl_chart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1" indent="-4572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IDE: Visual Studio Code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sz="2400" dirty="0"/>
              <a:t>Secure user authentication using </a:t>
            </a:r>
            <a:r>
              <a:rPr lang="en-GB" sz="2400" dirty="0" err="1"/>
              <a:t>Supabase</a:t>
            </a:r>
            <a:r>
              <a:rPr lang="en-GB" sz="2400" dirty="0"/>
              <a:t> – login and signup pages with input validation.</a:t>
            </a:r>
          </a:p>
          <a:p>
            <a:pPr marL="457200" indent="-45720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GB" sz="2400" dirty="0"/>
              <a:t>The testing methods used are functional testing and user acceptance testing. </a:t>
            </a:r>
          </a:p>
          <a:p>
            <a:pPr marL="914400" lvl="1" indent="-457200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Functional testing verifies that the software performs specified functions correctly and ensures it meets requirements. </a:t>
            </a:r>
          </a:p>
          <a:p>
            <a:pPr marL="914400" lvl="1" indent="-457200">
              <a:spcBef>
                <a:spcPts val="4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acceptance testing checks whether the software meets user needs and confirms it is ready for real-world use.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/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841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78970-45BD-C70C-6564-0534581D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2AE48FDF-1781-EF83-128F-B7C27B6D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/>
              <a:t>~ Results &amp; Discussions ~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C77903-FD1D-455B-D1ED-7FE761E0533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1166" y="1899920"/>
            <a:ext cx="9609668" cy="4540208"/>
          </a:xfrm>
        </p:spPr>
        <p:txBody>
          <a:bodyPr numCol="2" spcCol="640080"/>
          <a:lstStyle/>
          <a:p>
            <a:pPr algn="ctr"/>
            <a:r>
              <a:rPr lang="en-GB" u="sng" dirty="0">
                <a:latin typeface="+mj-lt"/>
              </a:rPr>
              <a:t>Results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Barcode scanning improved speed and accuracy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Real-time updates improved stock visibility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Validation checks improved data reliability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Reports enabled better stock planning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Role-based access improved security and usability</a:t>
            </a:r>
          </a:p>
          <a:p>
            <a:pPr lvl="1"/>
            <a:endParaRPr lang="en-GB" dirty="0"/>
          </a:p>
          <a:p>
            <a:pPr algn="ctr"/>
            <a:r>
              <a:rPr lang="en-GB" u="sng" dirty="0">
                <a:latin typeface="+mj-lt"/>
              </a:rPr>
              <a:t>Goals Achieved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Successfully automated stock tracking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Implemented alerts and warnings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Built dashboard and analytics reports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Maintained full transaction audit history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100" dirty="0"/>
              <a:t>PDF export</a:t>
            </a:r>
          </a:p>
        </p:txBody>
      </p:sp>
      <p:pic>
        <p:nvPicPr>
          <p:cNvPr id="6" name="Graphic 5" descr="Barcode with solid fill">
            <a:extLst>
              <a:ext uri="{FF2B5EF4-FFF2-40B4-BE49-F238E27FC236}">
                <a16:creationId xmlns:a16="http://schemas.microsoft.com/office/drawing/2014/main" id="{BFD7FDDF-3997-DD5E-BEF9-B72E2F7AB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4513" y="5289754"/>
            <a:ext cx="504581" cy="481798"/>
          </a:xfrm>
          <a:prstGeom prst="rect">
            <a:avLst/>
          </a:prstGeom>
        </p:spPr>
      </p:pic>
      <p:pic>
        <p:nvPicPr>
          <p:cNvPr id="10" name="Graphic 9" descr="Smart Phone with solid fill">
            <a:extLst>
              <a:ext uri="{FF2B5EF4-FFF2-40B4-BE49-F238E27FC236}">
                <a16:creationId xmlns:a16="http://schemas.microsoft.com/office/drawing/2014/main" id="{E1B61EB3-FF5C-CE78-0174-E0F6DC43F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9560" y="4758813"/>
            <a:ext cx="1622680" cy="15494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1973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8931-FF0A-61B9-4A76-0A406A8F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E254D6B2-E28E-F9AE-5BB2-D254CFA5A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 dirty="0"/>
              <a:t>~ Results &amp; Discussions ~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157FB2-7581-13C8-756C-803957674C2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1166" y="1659287"/>
            <a:ext cx="9609668" cy="4780841"/>
          </a:xfrm>
        </p:spPr>
        <p:txBody>
          <a:bodyPr/>
          <a:lstStyle/>
          <a:p>
            <a:r>
              <a:rPr lang="en-GB" u="sng" dirty="0">
                <a:latin typeface="+mj-lt"/>
              </a:rPr>
              <a:t>Future Improvements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Push notifications / Email alerts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Offline functionality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Advanced predictive analytics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US" sz="2400" dirty="0"/>
              <a:t>An admin dashboard to approve orders before placing them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Calendar view for maintenance schedules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Supplier integration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Multi-store support</a:t>
            </a:r>
          </a:p>
          <a:p>
            <a:pPr marL="457200" indent="-457200" fontAlgn="base">
              <a:buFont typeface="Wingdings" panose="05000000000000000000" pitchFamily="2" charset="2"/>
              <a:buChar char="v"/>
            </a:pPr>
            <a:r>
              <a:rPr lang="en-GB" sz="2400" dirty="0"/>
              <a:t>Web/Desktop version</a:t>
            </a:r>
          </a:p>
        </p:txBody>
      </p:sp>
    </p:spTree>
    <p:extLst>
      <p:ext uri="{BB962C8B-B14F-4D97-AF65-F5344CB8AC3E}">
        <p14:creationId xmlns:p14="http://schemas.microsoft.com/office/powerpoint/2010/main" val="1320424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ACDDD-4C27-6B1C-5232-61729767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E4C921D7-BEF2-989C-6095-5DDC43D1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9" y="706104"/>
            <a:ext cx="9609666" cy="916218"/>
          </a:xfrm>
        </p:spPr>
        <p:txBody>
          <a:bodyPr/>
          <a:lstStyle/>
          <a:p>
            <a:r>
              <a:rPr lang="en-US"/>
              <a:t>~ Conclusion ~</a:t>
            </a:r>
            <a:endParaRPr 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72B8A3D-6097-C87B-E439-4A17535D6D7E}"/>
              </a:ext>
            </a:extLst>
          </p:cNvPr>
          <p:cNvSpPr>
            <a:spLocks noGrp="1" noChangeArrowheads="1"/>
          </p:cNvSpPr>
          <p:nvPr>
            <p:ph type="body" idx="13"/>
          </p:nvPr>
        </p:nvSpPr>
        <p:spPr bwMode="auto">
          <a:xfrm>
            <a:off x="1290638" y="1649910"/>
            <a:ext cx="9609666" cy="47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100" dirty="0"/>
              <a:t>The Smart Inventory Tracking System successfully replaces manual and spreadsheet-based inventory tracking with a mobile-based digital solution. </a:t>
            </a: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improves accuracy, efficiency and real-time visibility of stock movement in a maintenance store environment.</a:t>
            </a: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Core objectives were achieved including real-time stock updates, barcode scanning, automated alerts and transaction logging.</a:t>
            </a: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Role-based access control and validation checks improved system security and reliability.</a:t>
            </a: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Dashboards and reports provide useful insights for better decision making and planning.</a:t>
            </a:r>
          </a:p>
          <a:p>
            <a:pPr marL="914400" lvl="1" indent="-457200" fontAlgn="base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system reduces human error and simplifies complex inventory workflows.</a:t>
            </a:r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100" dirty="0"/>
              <a:t>Although features like offline mode, notifications and supplier integration were not implemented, the system provides a strong foundation for future expansion.</a:t>
            </a:r>
          </a:p>
          <a:p>
            <a:pPr marL="457200" marR="0" lvl="0" indent="-457200" fontAlgn="base">
              <a:lnSpc>
                <a:spcPct val="100000"/>
              </a:lnSpc>
              <a:buFont typeface="Wingdings" panose="05000000000000000000" pitchFamily="2" charset="2"/>
              <a:buChar char="v"/>
              <a:tabLst/>
            </a:pPr>
            <a:r>
              <a:rPr lang="en-US" altLang="en-US" sz="2100" dirty="0"/>
              <a:t>The project also strengthened practical skills in Flutter development, database design, system integration and problem solving.</a:t>
            </a:r>
          </a:p>
        </p:txBody>
      </p:sp>
    </p:spTree>
    <p:extLst>
      <p:ext uri="{BB962C8B-B14F-4D97-AF65-F5344CB8AC3E}">
        <p14:creationId xmlns:p14="http://schemas.microsoft.com/office/powerpoint/2010/main" val="2702655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DC12-B16C-FFFA-EF63-8326B8B5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66C9-5E3B-43D1-503D-4E6AB530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39" y="881807"/>
            <a:ext cx="11176922" cy="509438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69475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Custom 8">
      <a:dk1>
        <a:srgbClr val="0F0F0F"/>
      </a:dk1>
      <a:lt1>
        <a:srgbClr val="FFFFFF"/>
      </a:lt1>
      <a:dk2>
        <a:srgbClr val="A5846F"/>
      </a:dk2>
      <a:lt2>
        <a:srgbClr val="D7C8BF"/>
      </a:lt2>
      <a:accent1>
        <a:srgbClr val="B29684"/>
      </a:accent1>
      <a:accent2>
        <a:srgbClr val="FED9CA"/>
      </a:accent2>
      <a:accent3>
        <a:srgbClr val="CDB4DB"/>
      </a:accent3>
      <a:accent4>
        <a:srgbClr val="FFC9C9"/>
      </a:accent4>
      <a:accent5>
        <a:srgbClr val="CDDDD9"/>
      </a:accent5>
      <a:accent6>
        <a:srgbClr val="968C8C"/>
      </a:accent6>
      <a:hlink>
        <a:srgbClr val="F7B615"/>
      </a:hlink>
      <a:folHlink>
        <a:srgbClr val="70440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708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Garamond</vt:lpstr>
      <vt:lpstr>Wingdings</vt:lpstr>
      <vt:lpstr>Organic</vt:lpstr>
      <vt:lpstr>Smart Inventory Tracking</vt:lpstr>
      <vt:lpstr>~ Introduction ~</vt:lpstr>
      <vt:lpstr>~ Suggested Solution ~</vt:lpstr>
      <vt:lpstr>~ Aims ~</vt:lpstr>
      <vt:lpstr>~ Requirements ~</vt:lpstr>
      <vt:lpstr>~ Database Design~</vt:lpstr>
      <vt:lpstr>~ Implementation &amp; Testing ~</vt:lpstr>
      <vt:lpstr>~ Results &amp; Discussions ~</vt:lpstr>
      <vt:lpstr>~ Results &amp; Discussions ~</vt:lpstr>
      <vt:lpstr>~ Conclusion ~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6220354-Maheen Muhammad Zafeer Zafeer</dc:creator>
  <cp:lastModifiedBy>6220354-Maheen Muhammad Zafeer Zafeer</cp:lastModifiedBy>
  <cp:revision>65</cp:revision>
  <dcterms:created xsi:type="dcterms:W3CDTF">2025-12-16T13:52:40Z</dcterms:created>
  <dcterms:modified xsi:type="dcterms:W3CDTF">2026-05-08T11:42:27Z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